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0"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FFFFF"/>
    <a:srgbClr val="000000"/>
    <a:srgbClr val="FF0000"/>
    <a:srgbClr val="080808"/>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8136E-4165-BFAF-7336-31F104C15F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6956CA-D996-B6F8-83C4-6EBDAD0164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1DE444-10F8-DBF9-0515-9F207448D258}"/>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5" name="Footer Placeholder 4">
            <a:extLst>
              <a:ext uri="{FF2B5EF4-FFF2-40B4-BE49-F238E27FC236}">
                <a16:creationId xmlns:a16="http://schemas.microsoft.com/office/drawing/2014/main" id="{550935F3-49B6-E95A-DEFF-DE56B5F234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9DD560-921D-F6AB-E519-4D8F46A2FC7A}"/>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2653381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1D392-41F8-4B7A-E665-07ADB1DA81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C6AB36-79E5-D0B5-59D1-ADD39020C1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501749-3BCD-1232-1931-157154C28DCD}"/>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5" name="Footer Placeholder 4">
            <a:extLst>
              <a:ext uri="{FF2B5EF4-FFF2-40B4-BE49-F238E27FC236}">
                <a16:creationId xmlns:a16="http://schemas.microsoft.com/office/drawing/2014/main" id="{C3657856-D069-6F02-10B1-A0AFED5D23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687EA0-D160-153B-FE87-B23F4F7423FD}"/>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4115249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E9D0F-F96D-8A18-2302-CC55B15388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312185-901A-9FF7-BB71-EC5D719B37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1BF0A5-5C81-B95C-6C90-D917327ECE7B}"/>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5" name="Footer Placeholder 4">
            <a:extLst>
              <a:ext uri="{FF2B5EF4-FFF2-40B4-BE49-F238E27FC236}">
                <a16:creationId xmlns:a16="http://schemas.microsoft.com/office/drawing/2014/main" id="{9F127022-097B-BA82-8382-5B8B13CE95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1F4273-1940-AEA8-02B6-551D95349748}"/>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2060630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BB3F1-52F6-13EE-D353-28BB4100E1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F07330-D123-D658-A0B4-06E74BCE36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85A901-D632-BCA3-C4BA-E33C72A9A9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D23B62-B4C3-40A7-A428-9376590C5CEC}"/>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6" name="Footer Placeholder 5">
            <a:extLst>
              <a:ext uri="{FF2B5EF4-FFF2-40B4-BE49-F238E27FC236}">
                <a16:creationId xmlns:a16="http://schemas.microsoft.com/office/drawing/2014/main" id="{E4D537CE-7277-D614-CE37-F5EDA3B242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F191DF-9B20-3A16-A0A3-97C240EE1F17}"/>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999300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C6367-D940-42A0-AAAC-D081F089E6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EA866C-8E0E-BA5B-0FE0-D2EEEBB12E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B83221-F36E-E58D-309E-C4CF1D2405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4F484ED-899B-5089-1EF9-077FA0F675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9ABB6-53B7-6D2F-D991-44D63319FA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F30A0D1-DBFA-C12A-A4D5-BC731DFC9C45}"/>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8" name="Footer Placeholder 7">
            <a:extLst>
              <a:ext uri="{FF2B5EF4-FFF2-40B4-BE49-F238E27FC236}">
                <a16:creationId xmlns:a16="http://schemas.microsoft.com/office/drawing/2014/main" id="{58BC1471-DB39-82F7-C2C8-63470993E8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8EB8F4-33E3-A748-A70E-8A5037F209FC}"/>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2326373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22282-0E0B-1B0B-812A-7C7479B12A8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B055D2-7187-D256-C55E-87D4CA92D0A9}"/>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4" name="Footer Placeholder 3">
            <a:extLst>
              <a:ext uri="{FF2B5EF4-FFF2-40B4-BE49-F238E27FC236}">
                <a16:creationId xmlns:a16="http://schemas.microsoft.com/office/drawing/2014/main" id="{3AB9170D-7E33-0118-6238-902F5234EA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DA85EAC-0346-781D-AF9D-2E1BC535E328}"/>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1116654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C80A94-5B36-D607-0AFC-F342D92B3562}"/>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3" name="Footer Placeholder 2">
            <a:extLst>
              <a:ext uri="{FF2B5EF4-FFF2-40B4-BE49-F238E27FC236}">
                <a16:creationId xmlns:a16="http://schemas.microsoft.com/office/drawing/2014/main" id="{5F644EBE-3D5C-361E-D789-D2786A1461D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E8004E-8DA0-62C9-D2B1-AD83E4648B59}"/>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2820416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933C0-2516-095C-C401-E97DAFA312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6B29CC-DE41-42FA-F7EF-6A1D9C2A16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8C87C1-A5DA-D4EF-6D48-087016A5B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18B1E-BC2E-E0E7-1449-2D95BE088CEA}"/>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6" name="Footer Placeholder 5">
            <a:extLst>
              <a:ext uri="{FF2B5EF4-FFF2-40B4-BE49-F238E27FC236}">
                <a16:creationId xmlns:a16="http://schemas.microsoft.com/office/drawing/2014/main" id="{33CA0989-1B52-0AE9-AF00-A654E15A31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D0FE25-D6AF-2432-B16B-66EB05E20EA0}"/>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4257500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60D75-20E8-DAB3-E52F-D6D39C4CFA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821C24-A7A5-B486-6841-289E1B0EA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359B39-7941-E294-BED1-B12BD32100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0F973B-1BA4-CE1A-B567-6653F9120E6C}"/>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6" name="Footer Placeholder 5">
            <a:extLst>
              <a:ext uri="{FF2B5EF4-FFF2-40B4-BE49-F238E27FC236}">
                <a16:creationId xmlns:a16="http://schemas.microsoft.com/office/drawing/2014/main" id="{A7D8D946-B706-C384-FAEA-3D3B5F0843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5D1952-A39F-2B51-5996-DE95C7F39E34}"/>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3420312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982F5-F373-13E8-CBAC-D6BBCB9E61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93B75E-8212-5E75-A8B8-95E957A7E9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098FF2-DD6D-ADC2-CC0F-E729A6E2A5AF}"/>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5" name="Footer Placeholder 4">
            <a:extLst>
              <a:ext uri="{FF2B5EF4-FFF2-40B4-BE49-F238E27FC236}">
                <a16:creationId xmlns:a16="http://schemas.microsoft.com/office/drawing/2014/main" id="{576B6086-B4C1-D604-7F02-BC34E3D471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76D8B8-6262-1A68-CE57-C667D15709CB}"/>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133984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8E801F-02F8-A610-3602-5EBF118411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BD3E05-2F43-14F6-2F4D-2D03BB2052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73D67C-D8BA-D33F-5EED-9D1ECC31F345}"/>
              </a:ext>
            </a:extLst>
          </p:cNvPr>
          <p:cNvSpPr>
            <a:spLocks noGrp="1"/>
          </p:cNvSpPr>
          <p:nvPr>
            <p:ph type="dt" sz="half" idx="10"/>
          </p:nvPr>
        </p:nvSpPr>
        <p:spPr/>
        <p:txBody>
          <a:bodyPr/>
          <a:lstStyle/>
          <a:p>
            <a:fld id="{0ABD9152-B25D-48FB-9657-A5EFEE9D9E4E}" type="datetimeFigureOut">
              <a:rPr lang="en-IN" smtClean="0"/>
              <a:t>10-12-2025</a:t>
            </a:fld>
            <a:endParaRPr lang="en-IN"/>
          </a:p>
        </p:txBody>
      </p:sp>
      <p:sp>
        <p:nvSpPr>
          <p:cNvPr id="5" name="Footer Placeholder 4">
            <a:extLst>
              <a:ext uri="{FF2B5EF4-FFF2-40B4-BE49-F238E27FC236}">
                <a16:creationId xmlns:a16="http://schemas.microsoft.com/office/drawing/2014/main" id="{069B6E9B-6E86-C74E-8D35-8808DD8B87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5C9AEF-4DBC-876F-B42A-019C5FF71F9E}"/>
              </a:ext>
            </a:extLst>
          </p:cNvPr>
          <p:cNvSpPr>
            <a:spLocks noGrp="1"/>
          </p:cNvSpPr>
          <p:nvPr>
            <p:ph type="sldNum" sz="quarter" idx="12"/>
          </p:nvPr>
        </p:nvSpPr>
        <p:spPr/>
        <p:txBody>
          <a:bodyPr/>
          <a:lstStyle/>
          <a:p>
            <a:fld id="{F4916BEE-BC1C-4671-BFB4-0793E8060816}" type="slidenum">
              <a:rPr lang="en-IN" smtClean="0"/>
              <a:t>‹#›</a:t>
            </a:fld>
            <a:endParaRPr lang="en-IN"/>
          </a:p>
        </p:txBody>
      </p:sp>
    </p:spTree>
    <p:extLst>
      <p:ext uri="{BB962C8B-B14F-4D97-AF65-F5344CB8AC3E}">
        <p14:creationId xmlns:p14="http://schemas.microsoft.com/office/powerpoint/2010/main" val="3480135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08DE90-0DFB-BA39-1D55-72EF028A76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D58B10-EEB3-6804-98AE-CC001B4A5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130CBD-2EAD-8228-931B-84263936F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BD9152-B25D-48FB-9657-A5EFEE9D9E4E}" type="datetimeFigureOut">
              <a:rPr lang="en-IN" smtClean="0"/>
              <a:t>10-12-2025</a:t>
            </a:fld>
            <a:endParaRPr lang="en-IN"/>
          </a:p>
        </p:txBody>
      </p:sp>
      <p:sp>
        <p:nvSpPr>
          <p:cNvPr id="5" name="Footer Placeholder 4">
            <a:extLst>
              <a:ext uri="{FF2B5EF4-FFF2-40B4-BE49-F238E27FC236}">
                <a16:creationId xmlns:a16="http://schemas.microsoft.com/office/drawing/2014/main" id="{900D2D91-B41B-F45A-05D8-FE64FE6726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FA7F9C1-C3C4-A798-75B4-A4EACBF1D9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916BEE-BC1C-4671-BFB4-0793E8060816}" type="slidenum">
              <a:rPr lang="en-IN" smtClean="0"/>
              <a:t>‹#›</a:t>
            </a:fld>
            <a:endParaRPr lang="en-IN"/>
          </a:p>
        </p:txBody>
      </p:sp>
    </p:spTree>
    <p:extLst>
      <p:ext uri="{BB962C8B-B14F-4D97-AF65-F5344CB8AC3E}">
        <p14:creationId xmlns:p14="http://schemas.microsoft.com/office/powerpoint/2010/main" val="3050391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red wavy surface with a circle&#10;&#10;AI-generated content may be incorrect.">
            <a:extLst>
              <a:ext uri="{FF2B5EF4-FFF2-40B4-BE49-F238E27FC236}">
                <a16:creationId xmlns:a16="http://schemas.microsoft.com/office/drawing/2014/main" id="{539A7650-8633-DF99-AB50-0B4D02557EA1}"/>
              </a:ext>
            </a:extLst>
          </p:cNvPr>
          <p:cNvPicPr>
            <a:picLocks noChangeAspect="1"/>
          </p:cNvPicPr>
          <p:nvPr/>
        </p:nvPicPr>
        <p:blipFill>
          <a:blip r:embed="rId2">
            <a:extLst>
              <a:ext uri="{28A0092B-C50C-407E-A947-70E740481C1C}">
                <a14:useLocalDpi xmlns:a14="http://schemas.microsoft.com/office/drawing/2010/main" val="0"/>
              </a:ext>
            </a:extLst>
          </a:blip>
          <a:srcRect l="6649"/>
          <a:stretch>
            <a:fillRect/>
          </a:stretch>
        </p:blipFill>
        <p:spPr>
          <a:xfrm>
            <a:off x="20" y="1282"/>
            <a:ext cx="12191980" cy="6856718"/>
          </a:xfrm>
          <a:prstGeom prst="rect">
            <a:avLst/>
          </a:prstGeom>
        </p:spPr>
      </p:pic>
      <p:sp>
        <p:nvSpPr>
          <p:cNvPr id="4" name="Rectangle: Rounded Corners 3">
            <a:extLst>
              <a:ext uri="{FF2B5EF4-FFF2-40B4-BE49-F238E27FC236}">
                <a16:creationId xmlns:a16="http://schemas.microsoft.com/office/drawing/2014/main" id="{B2618B4F-7C51-2BC7-6C99-EF26A38A0FB4}"/>
              </a:ext>
            </a:extLst>
          </p:cNvPr>
          <p:cNvSpPr/>
          <p:nvPr/>
        </p:nvSpPr>
        <p:spPr>
          <a:xfrm>
            <a:off x="353291" y="322117"/>
            <a:ext cx="6920345" cy="6224155"/>
          </a:xfrm>
          <a:prstGeom prst="roundRect">
            <a:avLst>
              <a:gd name="adj" fmla="val 1642"/>
            </a:avLst>
          </a:prstGeom>
          <a:solidFill>
            <a:srgbClr val="FFFFFF">
              <a:alpha val="34902"/>
            </a:srgbClr>
          </a:solidFill>
          <a:ln>
            <a:noFill/>
          </a:ln>
          <a:effectLst>
            <a:outerShdw blurRad="88900" sx="102000" sy="102000" algn="ctr" rotWithShape="0">
              <a:srgbClr val="FF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2CAA82E-676C-71C1-8FF9-A2D48467E413}"/>
              </a:ext>
            </a:extLst>
          </p:cNvPr>
          <p:cNvSpPr txBox="1"/>
          <p:nvPr/>
        </p:nvSpPr>
        <p:spPr>
          <a:xfrm>
            <a:off x="2729343" y="1383134"/>
            <a:ext cx="2168235" cy="538609"/>
          </a:xfrm>
          <a:prstGeom prst="rect">
            <a:avLst/>
          </a:prstGeom>
          <a:noFill/>
          <a:effectLst>
            <a:outerShdw blurRad="431800" sx="102000" sy="102000" algn="ctr" rotWithShape="0">
              <a:schemeClr val="bg1">
                <a:alpha val="40000"/>
              </a:schemeClr>
            </a:outerShdw>
          </a:effectLst>
        </p:spPr>
        <p:txBody>
          <a:bodyPr wrap="square" rtlCol="0">
            <a:spAutoFit/>
          </a:bodyPr>
          <a:lstStyle/>
          <a:p>
            <a:pPr algn="ctr"/>
            <a:r>
              <a:rPr lang="en-US" sz="2900" b="1" dirty="0">
                <a:solidFill>
                  <a:schemeClr val="bg1">
                    <a:lumMod val="95000"/>
                  </a:schemeClr>
                </a:solidFill>
                <a:effectLst>
                  <a:outerShdw blurRad="558800" sx="102000" sy="102000" algn="ctr" rotWithShape="0">
                    <a:schemeClr val="bg1">
                      <a:alpha val="40000"/>
                    </a:schemeClr>
                  </a:outerShdw>
                </a:effectLst>
              </a:rPr>
              <a:t>- TOPIC - </a:t>
            </a:r>
            <a:endParaRPr lang="en-IN" sz="2900" b="1" dirty="0">
              <a:solidFill>
                <a:schemeClr val="bg1">
                  <a:lumMod val="95000"/>
                </a:schemeClr>
              </a:solidFill>
              <a:effectLst>
                <a:outerShdw blurRad="558800" sx="102000" sy="102000" algn="ctr" rotWithShape="0">
                  <a:schemeClr val="bg1">
                    <a:alpha val="40000"/>
                  </a:schemeClr>
                </a:outerShdw>
              </a:effectLst>
            </a:endParaRPr>
          </a:p>
        </p:txBody>
      </p:sp>
      <p:sp>
        <p:nvSpPr>
          <p:cNvPr id="6" name="TextBox 5">
            <a:extLst>
              <a:ext uri="{FF2B5EF4-FFF2-40B4-BE49-F238E27FC236}">
                <a16:creationId xmlns:a16="http://schemas.microsoft.com/office/drawing/2014/main" id="{A1748895-6B85-3B2D-F65E-E2AD5AA36154}"/>
              </a:ext>
            </a:extLst>
          </p:cNvPr>
          <p:cNvSpPr txBox="1"/>
          <p:nvPr/>
        </p:nvSpPr>
        <p:spPr>
          <a:xfrm>
            <a:off x="598314" y="2235751"/>
            <a:ext cx="6430295" cy="2123658"/>
          </a:xfrm>
          <a:prstGeom prst="rect">
            <a:avLst/>
          </a:prstGeom>
          <a:noFill/>
        </p:spPr>
        <p:txBody>
          <a:bodyPr wrap="square" rtlCol="0">
            <a:spAutoFit/>
          </a:bodyPr>
          <a:lstStyle/>
          <a:p>
            <a:pPr algn="ctr"/>
            <a:r>
              <a:rPr lang="en-US" sz="4400" b="1" dirty="0">
                <a:solidFill>
                  <a:schemeClr val="bg1"/>
                </a:solidFill>
                <a:effectLst>
                  <a:outerShdw blurRad="381000" algn="ctr" rotWithShape="0">
                    <a:schemeClr val="tx1">
                      <a:alpha val="46000"/>
                    </a:schemeClr>
                  </a:outerShdw>
                </a:effectLst>
              </a:rPr>
              <a:t>CUSTOMER CHURN PREDICTION &amp; RETENTION STRATEGY</a:t>
            </a:r>
            <a:endParaRPr lang="en-IN" sz="4400" b="1" dirty="0">
              <a:solidFill>
                <a:schemeClr val="bg1"/>
              </a:solidFill>
              <a:effectLst>
                <a:outerShdw blurRad="381000" algn="ctr" rotWithShape="0">
                  <a:schemeClr val="tx1">
                    <a:alpha val="46000"/>
                  </a:schemeClr>
                </a:outerShdw>
              </a:effectLst>
            </a:endParaRPr>
          </a:p>
        </p:txBody>
      </p:sp>
      <p:sp>
        <p:nvSpPr>
          <p:cNvPr id="7" name="Flowchart: Connector 6">
            <a:extLst>
              <a:ext uri="{FF2B5EF4-FFF2-40B4-BE49-F238E27FC236}">
                <a16:creationId xmlns:a16="http://schemas.microsoft.com/office/drawing/2014/main" id="{75CEBAFB-8AAC-0936-CF51-A93F5327890D}"/>
              </a:ext>
            </a:extLst>
          </p:cNvPr>
          <p:cNvSpPr/>
          <p:nvPr/>
        </p:nvSpPr>
        <p:spPr>
          <a:xfrm>
            <a:off x="598314" y="5625667"/>
            <a:ext cx="554736" cy="566864"/>
          </a:xfrm>
          <a:prstGeom prst="flowChartConnector">
            <a:avLst/>
          </a:prstGeom>
          <a:blipFill dpi="0" rotWithShape="1">
            <a:blip r:embed="rId3">
              <a:extLst>
                <a:ext uri="{28A0092B-C50C-407E-A947-70E740481C1C}">
                  <a14:useLocalDpi xmlns:a14="http://schemas.microsoft.com/office/drawing/2010/main" val="0"/>
                </a:ext>
              </a:extLst>
            </a:blip>
            <a:srcRect/>
            <a:stretch>
              <a:fillRect/>
            </a:stretch>
          </a:blip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8B34EBE0-47BE-7793-3C3F-4FC915D95416}"/>
              </a:ext>
            </a:extLst>
          </p:cNvPr>
          <p:cNvSpPr txBox="1"/>
          <p:nvPr/>
        </p:nvSpPr>
        <p:spPr>
          <a:xfrm>
            <a:off x="1153050" y="5585933"/>
            <a:ext cx="4126992" cy="646331"/>
          </a:xfrm>
          <a:prstGeom prst="rect">
            <a:avLst/>
          </a:prstGeom>
          <a:noFill/>
        </p:spPr>
        <p:txBody>
          <a:bodyPr wrap="square" rtlCol="0">
            <a:spAutoFit/>
          </a:bodyPr>
          <a:lstStyle/>
          <a:p>
            <a:r>
              <a:rPr lang="en-US" sz="1400" dirty="0">
                <a:solidFill>
                  <a:srgbClr val="FFFFFF"/>
                </a:solidFill>
                <a:latin typeface="Bahnschrift SemiCondensed" panose="020B0502040204020203" pitchFamily="34" charset="0"/>
              </a:rPr>
              <a:t>Name : Suyash Kadu</a:t>
            </a:r>
          </a:p>
          <a:p>
            <a:r>
              <a:rPr lang="en-US" sz="1050" dirty="0">
                <a:solidFill>
                  <a:schemeClr val="accent2">
                    <a:lumMod val="20000"/>
                    <a:lumOff val="80000"/>
                  </a:schemeClr>
                </a:solidFill>
                <a:latin typeface="Bahnschrift SemiCondensed" panose="020B0502040204020203" pitchFamily="34" charset="0"/>
              </a:rPr>
              <a:t>ID : </a:t>
            </a:r>
            <a:r>
              <a:rPr lang="en-IN" sz="1050" dirty="0">
                <a:solidFill>
                  <a:schemeClr val="accent2">
                    <a:lumMod val="20000"/>
                    <a:lumOff val="80000"/>
                  </a:schemeClr>
                </a:solidFill>
                <a:latin typeface="Bahnschrift SemiCondensed" panose="020B0502040204020203" pitchFamily="34" charset="0"/>
              </a:rPr>
              <a:t>#21395</a:t>
            </a:r>
          </a:p>
          <a:p>
            <a:r>
              <a:rPr lang="en-US" sz="1050" dirty="0">
                <a:solidFill>
                  <a:schemeClr val="accent2">
                    <a:lumMod val="20000"/>
                    <a:lumOff val="80000"/>
                  </a:schemeClr>
                </a:solidFill>
                <a:latin typeface="Bahnschrift SemiCondensed" panose="020B0502040204020203" pitchFamily="34" charset="0"/>
              </a:rPr>
              <a:t>Mail ID : Suyashkadu11@gmail.com</a:t>
            </a:r>
          </a:p>
        </p:txBody>
      </p:sp>
      <p:sp>
        <p:nvSpPr>
          <p:cNvPr id="10" name="TextBox 9">
            <a:extLst>
              <a:ext uri="{FF2B5EF4-FFF2-40B4-BE49-F238E27FC236}">
                <a16:creationId xmlns:a16="http://schemas.microsoft.com/office/drawing/2014/main" id="{06075D05-B2DD-E1E3-A7CB-C0C81D0FA90A}"/>
              </a:ext>
            </a:extLst>
          </p:cNvPr>
          <p:cNvSpPr txBox="1"/>
          <p:nvPr/>
        </p:nvSpPr>
        <p:spPr>
          <a:xfrm>
            <a:off x="598314" y="5258289"/>
            <a:ext cx="4126992" cy="307777"/>
          </a:xfrm>
          <a:prstGeom prst="rect">
            <a:avLst/>
          </a:prstGeom>
          <a:noFill/>
        </p:spPr>
        <p:txBody>
          <a:bodyPr wrap="square" rtlCol="0">
            <a:spAutoFit/>
          </a:bodyPr>
          <a:lstStyle/>
          <a:p>
            <a:r>
              <a:rPr lang="en-US" sz="1400" dirty="0">
                <a:solidFill>
                  <a:srgbClr val="FFFFFF"/>
                </a:solidFill>
                <a:latin typeface="Bahnschrift SemiCondensed" panose="020B0502040204020203" pitchFamily="34" charset="0"/>
              </a:rPr>
              <a:t>Presented By-</a:t>
            </a:r>
          </a:p>
        </p:txBody>
      </p:sp>
    </p:spTree>
    <p:extLst>
      <p:ext uri="{BB962C8B-B14F-4D97-AF65-F5344CB8AC3E}">
        <p14:creationId xmlns:p14="http://schemas.microsoft.com/office/powerpoint/2010/main" val="3715120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00A2235D-08AD-D459-46B4-743766953C54}"/>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1EA1E7C3-38B9-89DA-7DCD-FBDCE1496EBF}"/>
              </a:ext>
            </a:extLst>
          </p:cNvPr>
          <p:cNvSpPr/>
          <p:nvPr/>
        </p:nvSpPr>
        <p:spPr>
          <a:xfrm>
            <a:off x="329380" y="534925"/>
            <a:ext cx="11533239" cy="1699122"/>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621AB3E0-A6E9-E1C9-D869-29488B0A4324}"/>
              </a:ext>
            </a:extLst>
          </p:cNvPr>
          <p:cNvSpPr txBox="1"/>
          <p:nvPr/>
        </p:nvSpPr>
        <p:spPr>
          <a:xfrm>
            <a:off x="553512" y="647549"/>
            <a:ext cx="11118495" cy="1508105"/>
          </a:xfrm>
          <a:prstGeom prst="rect">
            <a:avLst/>
          </a:prstGeom>
          <a:noFill/>
        </p:spPr>
        <p:txBody>
          <a:bodyPr wrap="square" rtlCol="0">
            <a:spAutoFit/>
          </a:bodyPr>
          <a:lstStyle/>
          <a:p>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PROBLEM STATEMENT</a:t>
            </a:r>
          </a:p>
          <a:p>
            <a:endParaRPr lang="en-US" b="1" dirty="0">
              <a:latin typeface="Calibri" panose="020F0502020204030204" pitchFamily="34" charset="0"/>
              <a:ea typeface="Calibri" panose="020F0502020204030204" pitchFamily="34" charset="0"/>
              <a:cs typeface="Calibri" panose="020F0502020204030204" pitchFamily="34" charset="0"/>
            </a:endParaRPr>
          </a:p>
          <a:p>
            <a:pPr algn="just"/>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Vodafone wants to analyze its customer churn records and develop a retention strategy. They aim to perform customer churn prediction by analyzing factors such as customer location, internet service type, contract type, and payment method.</a:t>
            </a:r>
          </a:p>
        </p:txBody>
      </p:sp>
      <p:pic>
        <p:nvPicPr>
          <p:cNvPr id="6" name="Graphic 5" descr="Warning with solid fill">
            <a:extLst>
              <a:ext uri="{FF2B5EF4-FFF2-40B4-BE49-F238E27FC236}">
                <a16:creationId xmlns:a16="http://schemas.microsoft.com/office/drawing/2014/main" id="{8FCA73D0-3BC0-A2E4-2038-1597BC9407A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61075" y="699504"/>
            <a:ext cx="288000" cy="268343"/>
          </a:xfrm>
          <a:prstGeom prst="rect">
            <a:avLst/>
          </a:prstGeom>
        </p:spPr>
      </p:pic>
      <p:sp>
        <p:nvSpPr>
          <p:cNvPr id="7" name="Rectangle 6">
            <a:extLst>
              <a:ext uri="{FF2B5EF4-FFF2-40B4-BE49-F238E27FC236}">
                <a16:creationId xmlns:a16="http://schemas.microsoft.com/office/drawing/2014/main" id="{F902F36F-4D08-AA6A-5E10-AFB0E19E1A2A}"/>
              </a:ext>
            </a:extLst>
          </p:cNvPr>
          <p:cNvSpPr/>
          <p:nvPr/>
        </p:nvSpPr>
        <p:spPr>
          <a:xfrm>
            <a:off x="329380" y="2466353"/>
            <a:ext cx="11533239" cy="3872105"/>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D9631A18-5873-4D5A-86D6-3D24710E5D75}"/>
              </a:ext>
            </a:extLst>
          </p:cNvPr>
          <p:cNvSpPr txBox="1"/>
          <p:nvPr/>
        </p:nvSpPr>
        <p:spPr>
          <a:xfrm>
            <a:off x="553512" y="2578977"/>
            <a:ext cx="11118495" cy="3375283"/>
          </a:xfrm>
          <a:prstGeom prst="rect">
            <a:avLst/>
          </a:prstGeom>
          <a:noFill/>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   OBJECTIVES</a:t>
            </a:r>
          </a:p>
          <a:p>
            <a:endParaRPr lang="en-US" b="1" dirty="0">
              <a:latin typeface="Calibri" panose="020F0502020204030204" pitchFamily="34" charset="0"/>
              <a:ea typeface="Calibri" panose="020F0502020204030204" pitchFamily="34" charset="0"/>
              <a:cs typeface="Calibri" panose="020F0502020204030204" pitchFamily="34" charset="0"/>
            </a:endParaRPr>
          </a:p>
          <a:p>
            <a:pPr algn="just">
              <a:spcBef>
                <a:spcPts val="120"/>
              </a:spcBef>
              <a:spcAft>
                <a:spcPts val="1200"/>
              </a:spcAft>
            </a:pPr>
            <a:r>
              <a:rPr lang="en-US"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Identify Key Drivers: </a:t>
            </a: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To determine the critical factors (e.g., contract type, tenure, payment method, location) that are most strongly correlated with customers deciding to churn.</a:t>
            </a:r>
          </a:p>
          <a:p>
            <a:pPr algn="just">
              <a:spcBef>
                <a:spcPts val="120"/>
              </a:spcBef>
              <a:spcAft>
                <a:spcPts val="1200"/>
              </a:spcAft>
            </a:pPr>
            <a:r>
              <a:rPr lang="en-US"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Profile High-Risk Customers: </a:t>
            </a: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To create a clear profile of customers most likely to churn (e.g., Month-to-month contract holders with short tenure who pay via Electronic Check).</a:t>
            </a:r>
          </a:p>
          <a:p>
            <a:pPr algn="just">
              <a:spcBef>
                <a:spcPts val="120"/>
              </a:spcBef>
              <a:spcAft>
                <a:spcPts val="1200"/>
              </a:spcAft>
            </a:pPr>
            <a:r>
              <a:rPr lang="en-US"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Provide Actionable Insights: </a:t>
            </a: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To translate the data findings into specific, data-backed retention strategies and recommendations for Vodafone's marketing and operations teams.</a:t>
            </a:r>
          </a:p>
          <a:p>
            <a:pPr algn="just">
              <a:spcBef>
                <a:spcPts val="120"/>
              </a:spcBef>
              <a:spcAft>
                <a:spcPts val="1200"/>
              </a:spcAft>
            </a:pPr>
            <a:r>
              <a:rPr lang="en-US"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Data Visualization: </a:t>
            </a: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To build a comprehensive, interactive Tableau Dashboard that allows management to monitor churn trends and filter performance by location, contract, and demographic.</a:t>
            </a:r>
          </a:p>
        </p:txBody>
      </p:sp>
      <p:pic>
        <p:nvPicPr>
          <p:cNvPr id="15" name="Graphic 14" descr="Bullseye with solid fill">
            <a:extLst>
              <a:ext uri="{FF2B5EF4-FFF2-40B4-BE49-F238E27FC236}">
                <a16:creationId xmlns:a16="http://schemas.microsoft.com/office/drawing/2014/main" id="{3410C598-5D93-C72E-A3AB-D67F73FDB68C}"/>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4282" r="4282"/>
          <a:stretch>
            <a:fillRect/>
          </a:stretch>
        </p:blipFill>
        <p:spPr>
          <a:xfrm>
            <a:off x="474562" y="2609807"/>
            <a:ext cx="306000" cy="306000"/>
          </a:xfrm>
          <a:prstGeom prst="rect">
            <a:avLst/>
          </a:prstGeom>
        </p:spPr>
      </p:pic>
    </p:spTree>
    <p:extLst>
      <p:ext uri="{BB962C8B-B14F-4D97-AF65-F5344CB8AC3E}">
        <p14:creationId xmlns:p14="http://schemas.microsoft.com/office/powerpoint/2010/main" val="3511461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C00EB1-D49E-34F3-39D8-A8CA4378EBD8}"/>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99BF10C7-0276-3022-DAA9-1BB706EDA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E92F1A6F-C45F-210B-B0D7-1B35955F6FA5}"/>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0C630BC7-CB27-D1D6-998B-201B17B6F4A1}"/>
              </a:ext>
            </a:extLst>
          </p:cNvPr>
          <p:cNvSpPr/>
          <p:nvPr/>
        </p:nvSpPr>
        <p:spPr>
          <a:xfrm>
            <a:off x="329380" y="534925"/>
            <a:ext cx="11533239" cy="604252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5D79EA5D-7062-D7B3-F0C6-29BF4E49839A}"/>
              </a:ext>
            </a:extLst>
          </p:cNvPr>
          <p:cNvSpPr txBox="1"/>
          <p:nvPr/>
        </p:nvSpPr>
        <p:spPr>
          <a:xfrm>
            <a:off x="553512" y="647549"/>
            <a:ext cx="11118495" cy="1508105"/>
          </a:xfrm>
          <a:prstGeom prst="rect">
            <a:avLst/>
          </a:prstGeom>
          <a:noFill/>
        </p:spPr>
        <p:txBody>
          <a:bodyPr wrap="square" rtlCol="0">
            <a:spAutoFit/>
          </a:bodyPr>
          <a:lstStyle/>
          <a:p>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DATASET OVERVIEW</a:t>
            </a:r>
          </a:p>
          <a:p>
            <a:endParaRPr lang="en-US" b="1" dirty="0">
              <a:latin typeface="Calibri" panose="020F0502020204030204" pitchFamily="34" charset="0"/>
              <a:ea typeface="Calibri" panose="020F0502020204030204" pitchFamily="34" charset="0"/>
              <a:cs typeface="Calibri" panose="020F0502020204030204" pitchFamily="34" charset="0"/>
            </a:endParaRPr>
          </a:p>
          <a:p>
            <a:pPr algn="just"/>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This analysis is based on a sample of 7,043 customer records from a telecom provider (Vodafone), We utilize key variables such as the Contract Type, Customer Tenure (time with the company), and Payment Method to identify strong correlations with the outcome variable of Churn.</a:t>
            </a:r>
          </a:p>
        </p:txBody>
      </p:sp>
      <p:pic>
        <p:nvPicPr>
          <p:cNvPr id="6" name="Graphic 5" descr="Warning with solid fill">
            <a:extLst>
              <a:ext uri="{FF2B5EF4-FFF2-40B4-BE49-F238E27FC236}">
                <a16:creationId xmlns:a16="http://schemas.microsoft.com/office/drawing/2014/main" id="{21F3C8E0-23C1-2FC3-44C8-9253E4F0B38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61075" y="699504"/>
            <a:ext cx="288000" cy="268343"/>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597C7AFD-5C15-8B42-8D6F-19B208BD4447}"/>
              </a:ext>
            </a:extLst>
          </p:cNvPr>
          <p:cNvPicPr>
            <a:picLocks noChangeAspect="1"/>
          </p:cNvPicPr>
          <p:nvPr/>
        </p:nvPicPr>
        <p:blipFill>
          <a:blip r:embed="rId5"/>
          <a:srcRect b="41628"/>
          <a:stretch>
            <a:fillRect/>
          </a:stretch>
        </p:blipFill>
        <p:spPr>
          <a:xfrm>
            <a:off x="536751" y="2237501"/>
            <a:ext cx="11118496" cy="1823668"/>
          </a:xfrm>
          <a:prstGeom prst="rect">
            <a:avLst/>
          </a:prstGeom>
          <a:ln w="19050">
            <a:solidFill>
              <a:schemeClr val="tx1">
                <a:lumMod val="65000"/>
                <a:lumOff val="35000"/>
              </a:schemeClr>
            </a:solidFill>
          </a:ln>
          <a:effectLst>
            <a:outerShdw blurRad="393700" sx="97000" sy="97000" algn="ctr" rotWithShape="0">
              <a:srgbClr val="FF5050">
                <a:alpha val="40000"/>
              </a:srgbClr>
            </a:outerShdw>
          </a:effectLst>
        </p:spPr>
      </p:pic>
      <p:pic>
        <p:nvPicPr>
          <p:cNvPr id="11" name="Picture 10" descr="A screenshot of a computer&#10;&#10;AI-generated content may be incorrect.">
            <a:extLst>
              <a:ext uri="{FF2B5EF4-FFF2-40B4-BE49-F238E27FC236}">
                <a16:creationId xmlns:a16="http://schemas.microsoft.com/office/drawing/2014/main" id="{8840AB46-C3D6-A382-B1C2-C7066F8C4DF8}"/>
              </a:ext>
            </a:extLst>
          </p:cNvPr>
          <p:cNvPicPr>
            <a:picLocks noChangeAspect="1"/>
          </p:cNvPicPr>
          <p:nvPr/>
        </p:nvPicPr>
        <p:blipFill>
          <a:blip r:embed="rId6"/>
          <a:srcRect b="30163"/>
          <a:stretch>
            <a:fillRect/>
          </a:stretch>
        </p:blipFill>
        <p:spPr>
          <a:xfrm>
            <a:off x="553512" y="4330194"/>
            <a:ext cx="11101735" cy="1823668"/>
          </a:xfrm>
          <a:prstGeom prst="rect">
            <a:avLst/>
          </a:prstGeom>
          <a:ln w="19050">
            <a:solidFill>
              <a:schemeClr val="tx1">
                <a:lumMod val="65000"/>
                <a:lumOff val="35000"/>
              </a:schemeClr>
            </a:solidFill>
          </a:ln>
          <a:effectLst>
            <a:outerShdw blurRad="393700" sx="97000" sy="97000" algn="ctr" rotWithShape="0">
              <a:srgbClr val="FF5050">
                <a:alpha val="40000"/>
              </a:srgbClr>
            </a:outerShdw>
          </a:effectLst>
        </p:spPr>
      </p:pic>
    </p:spTree>
    <p:extLst>
      <p:ext uri="{BB962C8B-B14F-4D97-AF65-F5344CB8AC3E}">
        <p14:creationId xmlns:p14="http://schemas.microsoft.com/office/powerpoint/2010/main" val="3276556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9E7C2A-22A5-E316-A9D7-2CAFD8DBC9EF}"/>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4E837B91-EBC0-75CE-CD68-D73B41C7F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9143A4C-8CF7-AF9D-8D65-26B1A26AB363}"/>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A68158B1-C9D7-0F3F-051A-94CDC8CAF59E}"/>
              </a:ext>
            </a:extLst>
          </p:cNvPr>
          <p:cNvSpPr/>
          <p:nvPr/>
        </p:nvSpPr>
        <p:spPr>
          <a:xfrm>
            <a:off x="329380" y="534925"/>
            <a:ext cx="11533239" cy="604252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6615C930-AA71-12EA-F68E-060E077AB0BE}"/>
              </a:ext>
            </a:extLst>
          </p:cNvPr>
          <p:cNvSpPr txBox="1"/>
          <p:nvPr/>
        </p:nvSpPr>
        <p:spPr>
          <a:xfrm>
            <a:off x="553512" y="647549"/>
            <a:ext cx="11118495" cy="400110"/>
          </a:xfrm>
          <a:prstGeom prst="rect">
            <a:avLst/>
          </a:prstGeom>
          <a:noFill/>
        </p:spPr>
        <p:txBody>
          <a:bodyPr wrap="square" rtlCol="0">
            <a:spAutoFit/>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DASHBOARD OVERVIEW</a:t>
            </a:r>
          </a:p>
        </p:txBody>
      </p:sp>
      <p:pic>
        <p:nvPicPr>
          <p:cNvPr id="7" name="Picture 6" descr="A screenshot of a computer&#10;&#10;AI-generated content may be incorrect.">
            <a:extLst>
              <a:ext uri="{FF2B5EF4-FFF2-40B4-BE49-F238E27FC236}">
                <a16:creationId xmlns:a16="http://schemas.microsoft.com/office/drawing/2014/main" id="{404CBF51-0998-3EDB-7F88-114EE155874B}"/>
              </a:ext>
            </a:extLst>
          </p:cNvPr>
          <p:cNvPicPr>
            <a:picLocks noChangeAspect="1"/>
          </p:cNvPicPr>
          <p:nvPr/>
        </p:nvPicPr>
        <p:blipFill>
          <a:blip r:embed="rId3"/>
          <a:stretch>
            <a:fillRect/>
          </a:stretch>
        </p:blipFill>
        <p:spPr>
          <a:xfrm>
            <a:off x="730548" y="1160283"/>
            <a:ext cx="10730904" cy="5121123"/>
          </a:xfrm>
          <a:prstGeom prst="rect">
            <a:avLst/>
          </a:prstGeom>
          <a:ln w="19050">
            <a:solidFill>
              <a:schemeClr val="tx1">
                <a:lumMod val="65000"/>
                <a:lumOff val="35000"/>
              </a:schemeClr>
            </a:solidFill>
          </a:ln>
          <a:effectLst>
            <a:outerShdw blurRad="393700" sx="97000" sy="97000" algn="ctr" rotWithShape="0">
              <a:srgbClr val="FF5050">
                <a:alpha val="40000"/>
              </a:srgbClr>
            </a:outerShdw>
          </a:effectLst>
        </p:spPr>
      </p:pic>
    </p:spTree>
    <p:extLst>
      <p:ext uri="{BB962C8B-B14F-4D97-AF65-F5344CB8AC3E}">
        <p14:creationId xmlns:p14="http://schemas.microsoft.com/office/powerpoint/2010/main" val="105907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C0641F-87E3-FC38-B000-E9093426AD44}"/>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C0DB177F-A5B6-FECE-E510-1C07195F9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A2DF19FB-6998-018D-A7FD-F019E5D6B6C5}"/>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7115106E-A62E-E6C1-158D-ADE5C9129FF9}"/>
              </a:ext>
            </a:extLst>
          </p:cNvPr>
          <p:cNvSpPr/>
          <p:nvPr/>
        </p:nvSpPr>
        <p:spPr>
          <a:xfrm>
            <a:off x="329380" y="534925"/>
            <a:ext cx="11533239" cy="604252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516BDBBC-1F39-9E48-9A38-1260B7DC84C8}"/>
              </a:ext>
            </a:extLst>
          </p:cNvPr>
          <p:cNvSpPr txBox="1"/>
          <p:nvPr/>
        </p:nvSpPr>
        <p:spPr>
          <a:xfrm>
            <a:off x="553512" y="647549"/>
            <a:ext cx="11118495" cy="2339102"/>
          </a:xfrm>
          <a:prstGeom prst="rect">
            <a:avLst/>
          </a:prstGeom>
          <a:noFill/>
        </p:spPr>
        <p:txBody>
          <a:bodyPr wrap="square" rtlCol="0">
            <a:spAutoFit/>
          </a:bodyPr>
          <a:lstStyle/>
          <a:p>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KEY FINDING</a:t>
            </a:r>
          </a:p>
          <a:p>
            <a:endParaRPr lang="en-US" b="1" dirty="0">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1. Month-to-month contract subscribers have a very high likelihood of churning while longer-term contracts have more customer loyalty.</a:t>
            </a:r>
          </a:p>
          <a:p>
            <a:pPr algn="just"/>
            <a:endParaRPr lang="en-US"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42.74 % of customers on a Month-to-month contract churned.</a:t>
            </a:r>
          </a:p>
          <a:p>
            <a:pPr marL="285750" indent="-285750" algn="just">
              <a:buFont typeface="Arial" panose="020B0604020202020204" pitchFamily="34" charset="0"/>
              <a:buChar char="•"/>
            </a:pP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Whereas only 11.12% of customers on a One Year contract and 2.93% on a Two-Year contract churned within their group</a:t>
            </a:r>
          </a:p>
        </p:txBody>
      </p:sp>
      <p:pic>
        <p:nvPicPr>
          <p:cNvPr id="6" name="Graphic 5" descr="Warning with solid fill">
            <a:extLst>
              <a:ext uri="{FF2B5EF4-FFF2-40B4-BE49-F238E27FC236}">
                <a16:creationId xmlns:a16="http://schemas.microsoft.com/office/drawing/2014/main" id="{0BCEE15E-0C00-DE1A-E0FF-3D724A7476B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61075" y="699504"/>
            <a:ext cx="288000" cy="268343"/>
          </a:xfrm>
          <a:prstGeom prst="rect">
            <a:avLst/>
          </a:prstGeom>
        </p:spPr>
      </p:pic>
      <p:pic>
        <p:nvPicPr>
          <p:cNvPr id="10" name="Picture 9" descr="A screenshot of a graph&#10;&#10;AI-generated content may be incorrect.">
            <a:extLst>
              <a:ext uri="{FF2B5EF4-FFF2-40B4-BE49-F238E27FC236}">
                <a16:creationId xmlns:a16="http://schemas.microsoft.com/office/drawing/2014/main" id="{138D525D-22CC-815A-2A64-D95FBA94718E}"/>
              </a:ext>
            </a:extLst>
          </p:cNvPr>
          <p:cNvPicPr>
            <a:picLocks noChangeAspect="1"/>
          </p:cNvPicPr>
          <p:nvPr/>
        </p:nvPicPr>
        <p:blipFill>
          <a:blip r:embed="rId5"/>
          <a:stretch>
            <a:fillRect/>
          </a:stretch>
        </p:blipFill>
        <p:spPr>
          <a:xfrm>
            <a:off x="2937937" y="2986651"/>
            <a:ext cx="6316126" cy="3336424"/>
          </a:xfrm>
          <a:prstGeom prst="rect">
            <a:avLst/>
          </a:prstGeom>
          <a:ln w="19050">
            <a:solidFill>
              <a:schemeClr val="tx1">
                <a:lumMod val="65000"/>
                <a:lumOff val="35000"/>
              </a:schemeClr>
            </a:solidFill>
          </a:ln>
          <a:effectLst>
            <a:outerShdw blurRad="393700" sx="97000" sy="97000" algn="ctr" rotWithShape="0">
              <a:srgbClr val="FF5050">
                <a:alpha val="40000"/>
              </a:srgbClr>
            </a:outerShdw>
          </a:effectLst>
        </p:spPr>
      </p:pic>
    </p:spTree>
    <p:extLst>
      <p:ext uri="{BB962C8B-B14F-4D97-AF65-F5344CB8AC3E}">
        <p14:creationId xmlns:p14="http://schemas.microsoft.com/office/powerpoint/2010/main" val="1440721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06DB80-CC56-4A3E-5E48-C444C8F8F602}"/>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0E345160-4F3E-6F93-8A39-2E222F111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AE347A89-C677-C663-E307-A1130B9382A1}"/>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A50E0270-CE56-C01A-AB8B-7B3F182A1888}"/>
              </a:ext>
            </a:extLst>
          </p:cNvPr>
          <p:cNvSpPr/>
          <p:nvPr/>
        </p:nvSpPr>
        <p:spPr>
          <a:xfrm>
            <a:off x="329380" y="534925"/>
            <a:ext cx="11533239" cy="604252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0AFD583F-20CD-D48A-14FE-55CEF37EC170}"/>
              </a:ext>
            </a:extLst>
          </p:cNvPr>
          <p:cNvSpPr txBox="1"/>
          <p:nvPr/>
        </p:nvSpPr>
        <p:spPr>
          <a:xfrm>
            <a:off x="553512" y="647549"/>
            <a:ext cx="11118495" cy="2339102"/>
          </a:xfrm>
          <a:prstGeom prst="rect">
            <a:avLst/>
          </a:prstGeom>
          <a:noFill/>
        </p:spPr>
        <p:txBody>
          <a:bodyPr wrap="square" rtlCol="0">
            <a:spAutoFit/>
          </a:bodyPr>
          <a:lstStyle/>
          <a:p>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KEY FINDINGS</a:t>
            </a:r>
          </a:p>
          <a:p>
            <a:endParaRPr lang="en-US" b="1" dirty="0">
              <a:latin typeface="Calibri" panose="020F0502020204030204" pitchFamily="34" charset="0"/>
              <a:ea typeface="Calibri" panose="020F0502020204030204" pitchFamily="34" charset="0"/>
              <a:cs typeface="Calibri" panose="020F0502020204030204" pitchFamily="34" charset="0"/>
            </a:endParaRPr>
          </a:p>
          <a:p>
            <a:pPr algn="just"/>
            <a:r>
              <a:rPr lang="en-US" b="1" dirty="0"/>
              <a:t>2. Customers are most likely to leave very early in their relationship highlighting a major issue with onboarding or initial service satisfaction.</a:t>
            </a:r>
          </a:p>
          <a:p>
            <a:pPr algn="just"/>
            <a:endParaRPr lang="en-US"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 1-15 Months tenure group is the largest segment and shows the highest overall churn volume of around 38.84%</a:t>
            </a:r>
          </a:p>
          <a:p>
            <a:pPr marL="285750" indent="-285750" algn="just">
              <a:buFont typeface="Arial" panose="020B0604020202020204" pitchFamily="34" charset="0"/>
              <a:buChar char="•"/>
            </a:pP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As tenure increases, the segment size and the proportional churn risk significantly decrease.</a:t>
            </a:r>
          </a:p>
        </p:txBody>
      </p:sp>
      <p:pic>
        <p:nvPicPr>
          <p:cNvPr id="6" name="Graphic 5" descr="Warning with solid fill">
            <a:extLst>
              <a:ext uri="{FF2B5EF4-FFF2-40B4-BE49-F238E27FC236}">
                <a16:creationId xmlns:a16="http://schemas.microsoft.com/office/drawing/2014/main" id="{2B740E64-DAA2-D2A0-747D-784B2522F0A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61075" y="699504"/>
            <a:ext cx="288000" cy="268343"/>
          </a:xfrm>
          <a:prstGeom prst="rect">
            <a:avLst/>
          </a:prstGeom>
        </p:spPr>
      </p:pic>
      <p:pic>
        <p:nvPicPr>
          <p:cNvPr id="8" name="Picture 7" descr="A chart with numbers and a red circle&#10;&#10;AI-generated content may be incorrect.">
            <a:extLst>
              <a:ext uri="{FF2B5EF4-FFF2-40B4-BE49-F238E27FC236}">
                <a16:creationId xmlns:a16="http://schemas.microsoft.com/office/drawing/2014/main" id="{172C56E3-2A98-6167-EC61-33C6AB84EE61}"/>
              </a:ext>
            </a:extLst>
          </p:cNvPr>
          <p:cNvPicPr>
            <a:picLocks noChangeAspect="1"/>
          </p:cNvPicPr>
          <p:nvPr/>
        </p:nvPicPr>
        <p:blipFill>
          <a:blip r:embed="rId5"/>
          <a:stretch>
            <a:fillRect/>
          </a:stretch>
        </p:blipFill>
        <p:spPr>
          <a:xfrm>
            <a:off x="3072984" y="3099275"/>
            <a:ext cx="6079550" cy="3337200"/>
          </a:xfrm>
          <a:prstGeom prst="rect">
            <a:avLst/>
          </a:prstGeom>
          <a:ln w="19050">
            <a:solidFill>
              <a:schemeClr val="tx1">
                <a:lumMod val="65000"/>
                <a:lumOff val="35000"/>
              </a:schemeClr>
            </a:solidFill>
          </a:ln>
          <a:effectLst>
            <a:outerShdw blurRad="393700" sx="97000" sy="97000" algn="ctr" rotWithShape="0">
              <a:srgbClr val="FF5050">
                <a:alpha val="40000"/>
              </a:srgbClr>
            </a:outerShdw>
          </a:effectLst>
        </p:spPr>
      </p:pic>
    </p:spTree>
    <p:extLst>
      <p:ext uri="{BB962C8B-B14F-4D97-AF65-F5344CB8AC3E}">
        <p14:creationId xmlns:p14="http://schemas.microsoft.com/office/powerpoint/2010/main" val="2733781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418357-6DFD-C7CB-8EBE-ABBD123E8B2F}"/>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6D866254-186F-2CEB-B191-C1AE7EA43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02B5ACF2-CD86-CFDB-CA74-AAA17E372C65}"/>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57FDE373-2281-FADB-A670-2926D2D9CA7E}"/>
              </a:ext>
            </a:extLst>
          </p:cNvPr>
          <p:cNvSpPr/>
          <p:nvPr/>
        </p:nvSpPr>
        <p:spPr>
          <a:xfrm>
            <a:off x="329380" y="534925"/>
            <a:ext cx="11533239" cy="604252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074B5F15-7196-0219-05E7-670A17B02F03}"/>
              </a:ext>
            </a:extLst>
          </p:cNvPr>
          <p:cNvSpPr txBox="1"/>
          <p:nvPr/>
        </p:nvSpPr>
        <p:spPr>
          <a:xfrm>
            <a:off x="553512" y="647549"/>
            <a:ext cx="11118495" cy="1231106"/>
          </a:xfrm>
          <a:prstGeom prst="rect">
            <a:avLst/>
          </a:prstGeom>
          <a:noFill/>
        </p:spPr>
        <p:txBody>
          <a:bodyPr wrap="square" rtlCol="0">
            <a:spAutoFit/>
          </a:bodyPr>
          <a:lstStyle/>
          <a:p>
            <a: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KEY FINDINGS</a:t>
            </a:r>
          </a:p>
          <a:p>
            <a:endParaRPr lang="en-US" b="1" dirty="0">
              <a:latin typeface="Calibri" panose="020F0502020204030204" pitchFamily="34" charset="0"/>
              <a:ea typeface="Calibri" panose="020F0502020204030204" pitchFamily="34" charset="0"/>
              <a:cs typeface="Calibri" panose="020F0502020204030204" pitchFamily="34" charset="0"/>
            </a:endParaRPr>
          </a:p>
          <a:p>
            <a:pPr algn="just"/>
            <a:r>
              <a:rPr lang="en-US" b="1" dirty="0"/>
              <a:t>3. The Electronic Check payment method is strongly associated with churn volume. Whereas those who are using Bank Transfer (Automatic) payment method continued the service.</a:t>
            </a:r>
          </a:p>
        </p:txBody>
      </p:sp>
      <p:pic>
        <p:nvPicPr>
          <p:cNvPr id="6" name="Graphic 5" descr="Warning with solid fill">
            <a:extLst>
              <a:ext uri="{FF2B5EF4-FFF2-40B4-BE49-F238E27FC236}">
                <a16:creationId xmlns:a16="http://schemas.microsoft.com/office/drawing/2014/main" id="{8C16CEA6-A568-68D3-127E-E3DBF3CC8AA2}"/>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61075" y="699504"/>
            <a:ext cx="288000" cy="268343"/>
          </a:xfrm>
          <a:prstGeom prst="rect">
            <a:avLst/>
          </a:prstGeom>
        </p:spPr>
      </p:pic>
      <p:cxnSp>
        <p:nvCxnSpPr>
          <p:cNvPr id="7" name="Straight Connector 6">
            <a:extLst>
              <a:ext uri="{FF2B5EF4-FFF2-40B4-BE49-F238E27FC236}">
                <a16:creationId xmlns:a16="http://schemas.microsoft.com/office/drawing/2014/main" id="{19DCDB02-8548-2609-6AF7-A483BD4B399F}"/>
              </a:ext>
            </a:extLst>
          </p:cNvPr>
          <p:cNvCxnSpPr/>
          <p:nvPr/>
        </p:nvCxnSpPr>
        <p:spPr>
          <a:xfrm>
            <a:off x="6112759" y="3148445"/>
            <a:ext cx="0" cy="321079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10" name="Picture 9" descr="A diagram of a credit card&#10;&#10;AI-generated content may be incorrect.">
            <a:extLst>
              <a:ext uri="{FF2B5EF4-FFF2-40B4-BE49-F238E27FC236}">
                <a16:creationId xmlns:a16="http://schemas.microsoft.com/office/drawing/2014/main" id="{BE3B7640-CC6A-661D-6595-4A7C4BFF4202}"/>
              </a:ext>
            </a:extLst>
          </p:cNvPr>
          <p:cNvPicPr>
            <a:picLocks noChangeAspect="1"/>
          </p:cNvPicPr>
          <p:nvPr/>
        </p:nvPicPr>
        <p:blipFill>
          <a:blip r:embed="rId5"/>
          <a:stretch>
            <a:fillRect/>
          </a:stretch>
        </p:blipFill>
        <p:spPr>
          <a:xfrm>
            <a:off x="605771" y="3148444"/>
            <a:ext cx="5292027" cy="2625815"/>
          </a:xfrm>
          <a:prstGeom prst="rect">
            <a:avLst/>
          </a:prstGeom>
          <a:ln w="19050">
            <a:solidFill>
              <a:schemeClr val="tx1">
                <a:lumMod val="65000"/>
                <a:lumOff val="35000"/>
              </a:schemeClr>
            </a:solidFill>
          </a:ln>
          <a:effectLst>
            <a:outerShdw blurRad="393700" sx="97000" sy="97000" algn="ctr" rotWithShape="0">
              <a:srgbClr val="FF5050">
                <a:alpha val="40000"/>
              </a:srgbClr>
            </a:outerShdw>
          </a:effectLst>
        </p:spPr>
      </p:pic>
      <p:pic>
        <p:nvPicPr>
          <p:cNvPr id="12" name="Picture 11" descr="A screenshot of a survey&#10;&#10;AI-generated content may be incorrect.">
            <a:extLst>
              <a:ext uri="{FF2B5EF4-FFF2-40B4-BE49-F238E27FC236}">
                <a16:creationId xmlns:a16="http://schemas.microsoft.com/office/drawing/2014/main" id="{E8A1DDF5-ED31-4CDA-0CE3-0AF4FFBFD0E7}"/>
              </a:ext>
            </a:extLst>
          </p:cNvPr>
          <p:cNvPicPr>
            <a:picLocks noChangeAspect="1"/>
          </p:cNvPicPr>
          <p:nvPr/>
        </p:nvPicPr>
        <p:blipFill>
          <a:blip r:embed="rId6"/>
          <a:stretch>
            <a:fillRect/>
          </a:stretch>
        </p:blipFill>
        <p:spPr>
          <a:xfrm>
            <a:off x="4811772" y="2066425"/>
            <a:ext cx="1085328" cy="894249"/>
          </a:xfrm>
          <a:prstGeom prst="rect">
            <a:avLst/>
          </a:prstGeom>
          <a:ln w="19050">
            <a:solidFill>
              <a:schemeClr val="tx1">
                <a:lumMod val="65000"/>
                <a:lumOff val="35000"/>
              </a:schemeClr>
            </a:solidFill>
          </a:ln>
          <a:effectLst>
            <a:outerShdw blurRad="393700" sx="97000" sy="97000" algn="ctr" rotWithShape="0">
              <a:srgbClr val="FF5050">
                <a:alpha val="40000"/>
              </a:srgbClr>
            </a:outerShdw>
          </a:effectLst>
        </p:spPr>
      </p:pic>
      <p:pic>
        <p:nvPicPr>
          <p:cNvPr id="14" name="Picture 13" descr="A graph of a credit card&#10;&#10;AI-generated content may be incorrect.">
            <a:extLst>
              <a:ext uri="{FF2B5EF4-FFF2-40B4-BE49-F238E27FC236}">
                <a16:creationId xmlns:a16="http://schemas.microsoft.com/office/drawing/2014/main" id="{623AA22B-9C05-57E3-C86E-D476C711A47D}"/>
              </a:ext>
            </a:extLst>
          </p:cNvPr>
          <p:cNvPicPr>
            <a:picLocks noChangeAspect="1"/>
          </p:cNvPicPr>
          <p:nvPr/>
        </p:nvPicPr>
        <p:blipFill>
          <a:blip r:embed="rId7"/>
          <a:stretch>
            <a:fillRect/>
          </a:stretch>
        </p:blipFill>
        <p:spPr>
          <a:xfrm>
            <a:off x="6297177" y="3148444"/>
            <a:ext cx="5289052" cy="2624400"/>
          </a:xfrm>
          <a:prstGeom prst="rect">
            <a:avLst/>
          </a:prstGeom>
          <a:ln w="19050">
            <a:solidFill>
              <a:schemeClr val="tx1">
                <a:lumMod val="65000"/>
                <a:lumOff val="35000"/>
              </a:schemeClr>
            </a:solidFill>
          </a:ln>
          <a:effectLst>
            <a:outerShdw blurRad="393700" sx="97000" sy="97000" algn="ctr" rotWithShape="0">
              <a:srgbClr val="FF5050">
                <a:alpha val="40000"/>
              </a:srgbClr>
            </a:outerShdw>
          </a:effectLst>
        </p:spPr>
      </p:pic>
      <p:pic>
        <p:nvPicPr>
          <p:cNvPr id="16" name="Picture 15" descr="A close up of a questionnaire&#10;&#10;AI-generated content may be incorrect.">
            <a:extLst>
              <a:ext uri="{FF2B5EF4-FFF2-40B4-BE49-F238E27FC236}">
                <a16:creationId xmlns:a16="http://schemas.microsoft.com/office/drawing/2014/main" id="{E931B0E3-ED55-F81C-4B14-22979C01E7E3}"/>
              </a:ext>
            </a:extLst>
          </p:cNvPr>
          <p:cNvPicPr>
            <a:picLocks noChangeAspect="1"/>
          </p:cNvPicPr>
          <p:nvPr/>
        </p:nvPicPr>
        <p:blipFill>
          <a:blip r:embed="rId8"/>
          <a:stretch>
            <a:fillRect/>
          </a:stretch>
        </p:blipFill>
        <p:spPr>
          <a:xfrm>
            <a:off x="10530396" y="2067874"/>
            <a:ext cx="1055833" cy="892800"/>
          </a:xfrm>
          <a:prstGeom prst="rect">
            <a:avLst/>
          </a:prstGeom>
          <a:ln w="19050">
            <a:solidFill>
              <a:schemeClr val="tx1">
                <a:lumMod val="65000"/>
                <a:lumOff val="35000"/>
              </a:schemeClr>
            </a:solidFill>
          </a:ln>
          <a:effectLst>
            <a:outerShdw blurRad="393700" sx="97000" sy="97000" algn="ctr" rotWithShape="0">
              <a:srgbClr val="FF5050">
                <a:alpha val="40000"/>
              </a:srgbClr>
            </a:outerShdw>
          </a:effectLst>
        </p:spPr>
      </p:pic>
    </p:spTree>
    <p:extLst>
      <p:ext uri="{BB962C8B-B14F-4D97-AF65-F5344CB8AC3E}">
        <p14:creationId xmlns:p14="http://schemas.microsoft.com/office/powerpoint/2010/main" val="3586290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4954DC-7486-20EA-6D01-1AE12DF93FCC}"/>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59EBFFF3-C9F0-7DBB-F8A0-0804ED5AA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95CEFD23-AEF1-9C34-2189-8501912EBBA5}"/>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a:off x="20" y="1282"/>
            <a:ext cx="12191980" cy="6856718"/>
          </a:xfrm>
          <a:prstGeom prst="rect">
            <a:avLst/>
          </a:prstGeom>
        </p:spPr>
      </p:pic>
      <p:sp>
        <p:nvSpPr>
          <p:cNvPr id="4" name="Rectangle 3">
            <a:extLst>
              <a:ext uri="{FF2B5EF4-FFF2-40B4-BE49-F238E27FC236}">
                <a16:creationId xmlns:a16="http://schemas.microsoft.com/office/drawing/2014/main" id="{2D33679C-D73C-3282-FB80-A99528714340}"/>
              </a:ext>
            </a:extLst>
          </p:cNvPr>
          <p:cNvSpPr/>
          <p:nvPr/>
        </p:nvSpPr>
        <p:spPr>
          <a:xfrm>
            <a:off x="329380" y="534925"/>
            <a:ext cx="11533239" cy="6042520"/>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BB71907D-29EC-4444-FE5B-F561E8001322}"/>
              </a:ext>
            </a:extLst>
          </p:cNvPr>
          <p:cNvSpPr txBox="1"/>
          <p:nvPr/>
        </p:nvSpPr>
        <p:spPr>
          <a:xfrm>
            <a:off x="553512" y="647549"/>
            <a:ext cx="11118495" cy="400110"/>
          </a:xfrm>
          <a:prstGeom prst="rect">
            <a:avLst/>
          </a:prstGeom>
          <a:noFill/>
        </p:spPr>
        <p:txBody>
          <a:bodyPr wrap="square" rtlCol="0">
            <a:spAutoFit/>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2" name="Rectangle: Rounded Corners 1">
            <a:extLst>
              <a:ext uri="{FF2B5EF4-FFF2-40B4-BE49-F238E27FC236}">
                <a16:creationId xmlns:a16="http://schemas.microsoft.com/office/drawing/2014/main" id="{9934D5A7-5C8C-8D16-CCFC-3459995BAB70}"/>
              </a:ext>
            </a:extLst>
          </p:cNvPr>
          <p:cNvSpPr/>
          <p:nvPr/>
        </p:nvSpPr>
        <p:spPr>
          <a:xfrm>
            <a:off x="696191" y="1340427"/>
            <a:ext cx="10799618" cy="1257300"/>
          </a:xfrm>
          <a:prstGeom prst="roundRect">
            <a:avLst>
              <a:gd name="adj" fmla="val 10055"/>
            </a:avLst>
          </a:prstGeom>
          <a:solidFill>
            <a:schemeClr val="bg1"/>
          </a:solidFill>
          <a:ln>
            <a:noFill/>
          </a:ln>
          <a:effectLst>
            <a:outerShdw dist="38100" dir="10800000" algn="r" rotWithShape="0">
              <a:srgbClr val="FF0000">
                <a:alpha val="7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0E85319-33A9-2B89-CBDB-27C85C3A32DE}"/>
              </a:ext>
            </a:extLst>
          </p:cNvPr>
          <p:cNvSpPr txBox="1"/>
          <p:nvPr/>
        </p:nvSpPr>
        <p:spPr>
          <a:xfrm>
            <a:off x="1010011" y="1461245"/>
            <a:ext cx="10171976" cy="1015663"/>
          </a:xfrm>
          <a:prstGeom prst="rect">
            <a:avLst/>
          </a:prstGeom>
          <a:noFill/>
        </p:spPr>
        <p:txBody>
          <a:bodyPr wrap="square" rtlCol="0">
            <a:spAutoFit/>
          </a:bodyPr>
          <a:lstStyle/>
          <a:p>
            <a:pPr algn="just"/>
            <a:r>
              <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Customers who are not tied down will leave. People on flexible, month-to-month plans and new customers (under 15 months) are the most likely to walk away because they have no long-term commitment.</a:t>
            </a:r>
          </a:p>
        </p:txBody>
      </p:sp>
      <p:sp>
        <p:nvSpPr>
          <p:cNvPr id="8" name="Rectangle: Rounded Corners 7">
            <a:extLst>
              <a:ext uri="{FF2B5EF4-FFF2-40B4-BE49-F238E27FC236}">
                <a16:creationId xmlns:a16="http://schemas.microsoft.com/office/drawing/2014/main" id="{62ECB68E-E7E5-FF75-0539-02F236866692}"/>
              </a:ext>
            </a:extLst>
          </p:cNvPr>
          <p:cNvSpPr/>
          <p:nvPr/>
        </p:nvSpPr>
        <p:spPr>
          <a:xfrm>
            <a:off x="696191" y="2890495"/>
            <a:ext cx="10799618" cy="1257300"/>
          </a:xfrm>
          <a:prstGeom prst="roundRect">
            <a:avLst>
              <a:gd name="adj" fmla="val 10055"/>
            </a:avLst>
          </a:prstGeom>
          <a:solidFill>
            <a:schemeClr val="bg1"/>
          </a:solidFill>
          <a:ln>
            <a:noFill/>
          </a:ln>
          <a:effectLst>
            <a:outerShdw dist="38100" dir="10800000" algn="r" rotWithShape="0">
              <a:srgbClr val="FF0000">
                <a:alpha val="7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77B72152-0423-9983-16D1-DDE53FFE50BB}"/>
              </a:ext>
            </a:extLst>
          </p:cNvPr>
          <p:cNvSpPr txBox="1"/>
          <p:nvPr/>
        </p:nvSpPr>
        <p:spPr>
          <a:xfrm>
            <a:off x="1010011" y="3146376"/>
            <a:ext cx="10171976" cy="707886"/>
          </a:xfrm>
          <a:prstGeom prst="rect">
            <a:avLst/>
          </a:prstGeom>
          <a:noFill/>
        </p:spPr>
        <p:txBody>
          <a:bodyPr wrap="square" rtlCol="0">
            <a:spAutoFit/>
          </a:bodyPr>
          <a:lstStyle/>
          <a:p>
            <a:pPr algn="just"/>
            <a:r>
              <a:rPr lang="en-US" sz="2000" dirty="0"/>
              <a:t>we are losing customers right at the start. Our focus needs to be on building loyalty early, in the first year of service, rather than just reacting when they try to leave.</a:t>
            </a:r>
            <a:endPar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angle: Rounded Corners 9">
            <a:extLst>
              <a:ext uri="{FF2B5EF4-FFF2-40B4-BE49-F238E27FC236}">
                <a16:creationId xmlns:a16="http://schemas.microsoft.com/office/drawing/2014/main" id="{76D21A96-E521-B129-0FE1-E3733F2BBDCB}"/>
              </a:ext>
            </a:extLst>
          </p:cNvPr>
          <p:cNvSpPr/>
          <p:nvPr/>
        </p:nvSpPr>
        <p:spPr>
          <a:xfrm>
            <a:off x="696191" y="4440563"/>
            <a:ext cx="10799618" cy="1257300"/>
          </a:xfrm>
          <a:prstGeom prst="roundRect">
            <a:avLst>
              <a:gd name="adj" fmla="val 10055"/>
            </a:avLst>
          </a:prstGeom>
          <a:solidFill>
            <a:schemeClr val="bg1"/>
          </a:solidFill>
          <a:ln>
            <a:noFill/>
          </a:ln>
          <a:effectLst>
            <a:outerShdw dist="38100" dir="10800000" algn="r" rotWithShape="0">
              <a:srgbClr val="FF0000">
                <a:alpha val="7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0240CF52-8F8C-8DF8-044A-0DB0ACFCD4EE}"/>
              </a:ext>
            </a:extLst>
          </p:cNvPr>
          <p:cNvSpPr txBox="1"/>
          <p:nvPr/>
        </p:nvSpPr>
        <p:spPr>
          <a:xfrm>
            <a:off x="1026771" y="4561381"/>
            <a:ext cx="10171976" cy="1015663"/>
          </a:xfrm>
          <a:prstGeom prst="rect">
            <a:avLst/>
          </a:prstGeom>
          <a:noFill/>
        </p:spPr>
        <p:txBody>
          <a:bodyPr wrap="square" rtlCol="0">
            <a:spAutoFit/>
          </a:bodyPr>
          <a:lstStyle/>
          <a:p>
            <a:pPr algn="just"/>
            <a:r>
              <a:rPr lang="en-US" sz="2000" dirty="0"/>
              <a:t>While churn is happening everywhere, the customers who pay with Electronic Check are associated with the largest total revenue. If we can keep this specific group from churning, we will save the most money.</a:t>
            </a:r>
            <a:endParaRPr lang="en-US" sz="2000"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02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823190-C75D-8DB5-B8D0-169BBF00F4B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D5C2DAF-CD79-F63E-E26D-8619C1F527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red wavy surface with a circle&#10;&#10;AI-generated content may be incorrect.">
            <a:extLst>
              <a:ext uri="{FF2B5EF4-FFF2-40B4-BE49-F238E27FC236}">
                <a16:creationId xmlns:a16="http://schemas.microsoft.com/office/drawing/2014/main" id="{BBFB840A-1F10-EB88-25F2-7AE2A5A176B0}"/>
              </a:ext>
            </a:extLst>
          </p:cNvPr>
          <p:cNvPicPr>
            <a:picLocks noChangeAspect="1"/>
          </p:cNvPicPr>
          <p:nvPr/>
        </p:nvPicPr>
        <p:blipFill>
          <a:blip r:embed="rId2">
            <a:extLst>
              <a:ext uri="{28A0092B-C50C-407E-A947-70E740481C1C}">
                <a14:useLocalDpi xmlns:a14="http://schemas.microsoft.com/office/drawing/2010/main" val="0"/>
              </a:ext>
            </a:extLst>
          </a:blip>
          <a:srcRect l="6649"/>
          <a:stretch>
            <a:fillRect/>
          </a:stretch>
        </p:blipFill>
        <p:spPr>
          <a:xfrm>
            <a:off x="20" y="1282"/>
            <a:ext cx="12191980" cy="6856718"/>
          </a:xfrm>
          <a:prstGeom prst="rect">
            <a:avLst/>
          </a:prstGeom>
        </p:spPr>
      </p:pic>
      <p:sp>
        <p:nvSpPr>
          <p:cNvPr id="4" name="Rectangle: Rounded Corners 3">
            <a:extLst>
              <a:ext uri="{FF2B5EF4-FFF2-40B4-BE49-F238E27FC236}">
                <a16:creationId xmlns:a16="http://schemas.microsoft.com/office/drawing/2014/main" id="{076CC0C8-5DF1-1995-103E-1474D07D7AFC}"/>
              </a:ext>
            </a:extLst>
          </p:cNvPr>
          <p:cNvSpPr/>
          <p:nvPr/>
        </p:nvSpPr>
        <p:spPr>
          <a:xfrm>
            <a:off x="353291" y="322117"/>
            <a:ext cx="6920345" cy="6224155"/>
          </a:xfrm>
          <a:prstGeom prst="roundRect">
            <a:avLst>
              <a:gd name="adj" fmla="val 1642"/>
            </a:avLst>
          </a:prstGeom>
          <a:solidFill>
            <a:srgbClr val="FFFFFF">
              <a:alpha val="34902"/>
            </a:srgbClr>
          </a:solidFill>
          <a:ln>
            <a:noFill/>
          </a:ln>
          <a:effectLst>
            <a:outerShdw blurRad="88900" sx="102000" sy="102000" algn="ctr" rotWithShape="0">
              <a:srgbClr val="FF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16BD44B-5A83-E38D-87ED-04AF34996907}"/>
              </a:ext>
            </a:extLst>
          </p:cNvPr>
          <p:cNvSpPr txBox="1"/>
          <p:nvPr/>
        </p:nvSpPr>
        <p:spPr>
          <a:xfrm>
            <a:off x="2729341" y="625736"/>
            <a:ext cx="2168235" cy="369332"/>
          </a:xfrm>
          <a:prstGeom prst="rect">
            <a:avLst/>
          </a:prstGeom>
          <a:noFill/>
          <a:effectLst/>
        </p:spPr>
        <p:txBody>
          <a:bodyPr wrap="square" rtlCol="0">
            <a:spAutoFit/>
          </a:bodyPr>
          <a:lstStyle/>
          <a:p>
            <a:pPr algn="ctr"/>
            <a:r>
              <a:rPr lang="en-US" b="1" dirty="0">
                <a:solidFill>
                  <a:schemeClr val="accent2">
                    <a:lumMod val="20000"/>
                    <a:lumOff val="80000"/>
                  </a:schemeClr>
                </a:solidFill>
                <a:effectLst>
                  <a:outerShdw blurRad="381000" algn="ctr" rotWithShape="0">
                    <a:schemeClr val="tx1">
                      <a:alpha val="46000"/>
                    </a:schemeClr>
                  </a:outerShdw>
                </a:effectLst>
              </a:rPr>
              <a:t>- TOPIC - </a:t>
            </a:r>
            <a:endParaRPr lang="en-IN" b="1" dirty="0">
              <a:solidFill>
                <a:schemeClr val="accent2">
                  <a:lumMod val="20000"/>
                  <a:lumOff val="80000"/>
                </a:schemeClr>
              </a:solidFill>
              <a:effectLst>
                <a:outerShdw blurRad="381000" algn="ctr" rotWithShape="0">
                  <a:schemeClr val="tx1">
                    <a:alpha val="46000"/>
                  </a:schemeClr>
                </a:outerShdw>
              </a:effectLst>
            </a:endParaRPr>
          </a:p>
        </p:txBody>
      </p:sp>
      <p:sp>
        <p:nvSpPr>
          <p:cNvPr id="6" name="TextBox 5">
            <a:extLst>
              <a:ext uri="{FF2B5EF4-FFF2-40B4-BE49-F238E27FC236}">
                <a16:creationId xmlns:a16="http://schemas.microsoft.com/office/drawing/2014/main" id="{ABFDA8E2-C5EF-3F9A-7900-E11F9EA01A86}"/>
              </a:ext>
            </a:extLst>
          </p:cNvPr>
          <p:cNvSpPr txBox="1"/>
          <p:nvPr/>
        </p:nvSpPr>
        <p:spPr>
          <a:xfrm>
            <a:off x="598312" y="995068"/>
            <a:ext cx="6430295" cy="954107"/>
          </a:xfrm>
          <a:prstGeom prst="rect">
            <a:avLst/>
          </a:prstGeom>
          <a:noFill/>
        </p:spPr>
        <p:txBody>
          <a:bodyPr wrap="square" rtlCol="0">
            <a:spAutoFit/>
          </a:bodyPr>
          <a:lstStyle/>
          <a:p>
            <a:pPr algn="ctr"/>
            <a:r>
              <a:rPr lang="en-US" sz="2800" b="1" dirty="0">
                <a:solidFill>
                  <a:schemeClr val="accent2">
                    <a:lumMod val="20000"/>
                    <a:lumOff val="80000"/>
                  </a:schemeClr>
                </a:solidFill>
                <a:effectLst>
                  <a:outerShdw blurRad="381000" algn="ctr" rotWithShape="0">
                    <a:schemeClr val="tx1">
                      <a:alpha val="46000"/>
                    </a:schemeClr>
                  </a:outerShdw>
                </a:effectLst>
              </a:rPr>
              <a:t>CUSTOMER CHURN PREDICTION &amp; RETENTION STRATEGY</a:t>
            </a:r>
            <a:endParaRPr lang="en-IN" sz="2800" b="1" dirty="0">
              <a:solidFill>
                <a:schemeClr val="accent2">
                  <a:lumMod val="20000"/>
                  <a:lumOff val="80000"/>
                </a:schemeClr>
              </a:solidFill>
              <a:effectLst>
                <a:outerShdw blurRad="381000" algn="ctr" rotWithShape="0">
                  <a:schemeClr val="tx1">
                    <a:alpha val="46000"/>
                  </a:schemeClr>
                </a:outerShdw>
              </a:effectLst>
            </a:endParaRPr>
          </a:p>
        </p:txBody>
      </p:sp>
      <p:sp>
        <p:nvSpPr>
          <p:cNvPr id="7" name="Flowchart: Connector 6">
            <a:extLst>
              <a:ext uri="{FF2B5EF4-FFF2-40B4-BE49-F238E27FC236}">
                <a16:creationId xmlns:a16="http://schemas.microsoft.com/office/drawing/2014/main" id="{9BE92594-2753-396F-B363-43E8F48DD2CA}"/>
              </a:ext>
            </a:extLst>
          </p:cNvPr>
          <p:cNvSpPr/>
          <p:nvPr/>
        </p:nvSpPr>
        <p:spPr>
          <a:xfrm>
            <a:off x="598314" y="5625667"/>
            <a:ext cx="554736" cy="566864"/>
          </a:xfrm>
          <a:prstGeom prst="flowChartConnector">
            <a:avLst/>
          </a:prstGeom>
          <a:blipFill dpi="0" rotWithShape="1">
            <a:blip r:embed="rId3">
              <a:extLst>
                <a:ext uri="{28A0092B-C50C-407E-A947-70E740481C1C}">
                  <a14:useLocalDpi xmlns:a14="http://schemas.microsoft.com/office/drawing/2010/main" val="0"/>
                </a:ext>
              </a:extLst>
            </a:blip>
            <a:srcRect/>
            <a:stretch>
              <a:fillRect/>
            </a:stretch>
          </a:blip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5853932B-6CAB-9687-A396-0EC6E90BF853}"/>
              </a:ext>
            </a:extLst>
          </p:cNvPr>
          <p:cNvSpPr txBox="1"/>
          <p:nvPr/>
        </p:nvSpPr>
        <p:spPr>
          <a:xfrm>
            <a:off x="1153050" y="5585933"/>
            <a:ext cx="4126992" cy="646331"/>
          </a:xfrm>
          <a:prstGeom prst="rect">
            <a:avLst/>
          </a:prstGeom>
          <a:noFill/>
        </p:spPr>
        <p:txBody>
          <a:bodyPr wrap="square" rtlCol="0">
            <a:spAutoFit/>
          </a:bodyPr>
          <a:lstStyle/>
          <a:p>
            <a:r>
              <a:rPr lang="en-US" sz="1400" dirty="0">
                <a:solidFill>
                  <a:srgbClr val="FFFFFF"/>
                </a:solidFill>
                <a:latin typeface="Bahnschrift SemiCondensed" panose="020B0502040204020203" pitchFamily="34" charset="0"/>
              </a:rPr>
              <a:t>Name : Suyash Kadu</a:t>
            </a:r>
          </a:p>
          <a:p>
            <a:r>
              <a:rPr lang="en-US" sz="1050" dirty="0">
                <a:solidFill>
                  <a:schemeClr val="accent2">
                    <a:lumMod val="20000"/>
                    <a:lumOff val="80000"/>
                  </a:schemeClr>
                </a:solidFill>
                <a:latin typeface="Bahnschrift SemiCondensed" panose="020B0502040204020203" pitchFamily="34" charset="0"/>
              </a:rPr>
              <a:t>ID : </a:t>
            </a:r>
            <a:r>
              <a:rPr lang="en-IN" sz="1050" dirty="0">
                <a:solidFill>
                  <a:schemeClr val="accent2">
                    <a:lumMod val="20000"/>
                    <a:lumOff val="80000"/>
                  </a:schemeClr>
                </a:solidFill>
                <a:latin typeface="Bahnschrift SemiCondensed" panose="020B0502040204020203" pitchFamily="34" charset="0"/>
              </a:rPr>
              <a:t>#21395</a:t>
            </a:r>
          </a:p>
          <a:p>
            <a:r>
              <a:rPr lang="en-US" sz="1050" dirty="0">
                <a:solidFill>
                  <a:schemeClr val="accent2">
                    <a:lumMod val="20000"/>
                    <a:lumOff val="80000"/>
                  </a:schemeClr>
                </a:solidFill>
                <a:latin typeface="Bahnschrift SemiCondensed" panose="020B0502040204020203" pitchFamily="34" charset="0"/>
              </a:rPr>
              <a:t>Mail ID : Suyashkadu11@gmail.com</a:t>
            </a:r>
          </a:p>
        </p:txBody>
      </p:sp>
      <p:sp>
        <p:nvSpPr>
          <p:cNvPr id="10" name="TextBox 9">
            <a:extLst>
              <a:ext uri="{FF2B5EF4-FFF2-40B4-BE49-F238E27FC236}">
                <a16:creationId xmlns:a16="http://schemas.microsoft.com/office/drawing/2014/main" id="{677FDB98-4C3B-57F8-9027-D37F02912750}"/>
              </a:ext>
            </a:extLst>
          </p:cNvPr>
          <p:cNvSpPr txBox="1"/>
          <p:nvPr/>
        </p:nvSpPr>
        <p:spPr>
          <a:xfrm>
            <a:off x="598314" y="5258289"/>
            <a:ext cx="4126992" cy="307777"/>
          </a:xfrm>
          <a:prstGeom prst="rect">
            <a:avLst/>
          </a:prstGeom>
          <a:noFill/>
        </p:spPr>
        <p:txBody>
          <a:bodyPr wrap="square" rtlCol="0">
            <a:spAutoFit/>
          </a:bodyPr>
          <a:lstStyle/>
          <a:p>
            <a:r>
              <a:rPr lang="en-US" sz="1400" dirty="0">
                <a:solidFill>
                  <a:srgbClr val="FFFFFF"/>
                </a:solidFill>
                <a:latin typeface="Bahnschrift SemiCondensed" panose="020B0502040204020203" pitchFamily="34" charset="0"/>
              </a:rPr>
              <a:t>Presented By-</a:t>
            </a:r>
          </a:p>
        </p:txBody>
      </p:sp>
      <p:sp>
        <p:nvSpPr>
          <p:cNvPr id="2" name="TextBox 1">
            <a:extLst>
              <a:ext uri="{FF2B5EF4-FFF2-40B4-BE49-F238E27FC236}">
                <a16:creationId xmlns:a16="http://schemas.microsoft.com/office/drawing/2014/main" id="{83C20F6D-2481-AB4E-FE2B-FB5B232E932B}"/>
              </a:ext>
            </a:extLst>
          </p:cNvPr>
          <p:cNvSpPr txBox="1"/>
          <p:nvPr/>
        </p:nvSpPr>
        <p:spPr>
          <a:xfrm>
            <a:off x="598312" y="2885912"/>
            <a:ext cx="6430295" cy="1107996"/>
          </a:xfrm>
          <a:prstGeom prst="rect">
            <a:avLst/>
          </a:prstGeom>
          <a:noFill/>
        </p:spPr>
        <p:txBody>
          <a:bodyPr wrap="square" rtlCol="0">
            <a:spAutoFit/>
          </a:bodyPr>
          <a:lstStyle/>
          <a:p>
            <a:pPr algn="ctr"/>
            <a:r>
              <a:rPr lang="en-US" sz="6600" b="1" dirty="0">
                <a:solidFill>
                  <a:schemeClr val="bg1"/>
                </a:solidFill>
                <a:effectLst>
                  <a:outerShdw blurRad="381000" algn="ctr" rotWithShape="0">
                    <a:schemeClr val="tx1">
                      <a:alpha val="46000"/>
                    </a:schemeClr>
                  </a:outerShdw>
                </a:effectLst>
              </a:rPr>
              <a:t>THANK YOU</a:t>
            </a:r>
            <a:endParaRPr lang="en-IN" sz="6600" b="1" dirty="0">
              <a:solidFill>
                <a:schemeClr val="bg1"/>
              </a:solidFill>
              <a:effectLst>
                <a:outerShdw blurRad="381000" algn="ctr" rotWithShape="0">
                  <a:schemeClr val="tx1">
                    <a:alpha val="46000"/>
                  </a:schemeClr>
                </a:outerShdw>
              </a:effectLst>
            </a:endParaRPr>
          </a:p>
        </p:txBody>
      </p:sp>
    </p:spTree>
    <p:extLst>
      <p:ext uri="{BB962C8B-B14F-4D97-AF65-F5344CB8AC3E}">
        <p14:creationId xmlns:p14="http://schemas.microsoft.com/office/powerpoint/2010/main" val="2800594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538</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Bahnschrift SemiCondensed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suyash kadu</dc:creator>
  <cp:lastModifiedBy>suyash kadu</cp:lastModifiedBy>
  <cp:revision>4</cp:revision>
  <dcterms:created xsi:type="dcterms:W3CDTF">2025-12-09T14:46:16Z</dcterms:created>
  <dcterms:modified xsi:type="dcterms:W3CDTF">2025-12-10T09:41:48Z</dcterms:modified>
</cp:coreProperties>
</file>